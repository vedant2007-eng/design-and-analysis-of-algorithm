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502919"/>
            <a:ext cx="1554480" cy="1554480"/>
          </a:xfrm>
          <a:prstGeom prst="ellipse">
            <a:avLst/>
          </a:prstGeom>
          <a:solidFill>
            <a:srgbClr val="2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52759" y="4709160"/>
            <a:ext cx="1005840" cy="1005840"/>
          </a:xfrm>
          <a:prstGeom prst="ellipse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" y="5715000"/>
            <a:ext cx="640080" cy="640080"/>
          </a:xfrm>
          <a:prstGeom prst="ellipse">
            <a:avLst/>
          </a:prstGeom>
          <a:solidFill>
            <a:srgbClr val="2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8138160" cy="4114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400" b="1">
                <a:solidFill>
                  <a:srgbClr val="3CD3E8"/>
                </a:solidFill>
                <a:latin typeface="Aptos"/>
              </a:defRPr>
            </a:pPr>
            <a:r>
              <a:t>GRAPH ALGORITHMS • MINIMUM SPANNING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8778240" cy="105156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600" b="1">
                <a:solidFill>
                  <a:srgbClr val="F5F8FF"/>
                </a:solidFill>
                <a:latin typeface="Aptos"/>
              </a:defRPr>
            </a:pPr>
            <a:r>
              <a:t>KRUSKAL’S</a:t>
            </a:r>
            <a:br/>
            <a: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886200"/>
            <a:ext cx="8046720" cy="5486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2200" b="0">
                <a:solidFill>
                  <a:srgbClr val="B4C4DC"/>
                </a:solidFill>
                <a:latin typeface="Aptos"/>
              </a:defRPr>
            </a:pPr>
            <a:r>
              <a:t>Build the cheapest network without creating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4754880" cy="777240"/>
          </a:xfrm>
          <a:prstGeom prst="roundRect">
            <a:avLst/>
          </a:prstGeom>
          <a:solidFill>
            <a:srgbClr val="1127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400" b="1">
                <a:solidFill>
                  <a:srgbClr val="3CD3E8"/>
                </a:solidFill>
                <a:latin typeface="Aptos"/>
              </a:defRPr>
            </a:pPr>
            <a:r>
              <a:t>Core idea</a:t>
            </a:r>
          </a:p>
          <a:p>
            <a:pPr>
              <a:spcAft>
                <a:spcPts val="80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t>Sort edges → pick safe edges → connect all vertices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457200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000" b="0">
                <a:solidFill>
                  <a:srgbClr val="B4C4DC"/>
                </a:solidFill>
                <a:latin typeface="Aptos"/>
              </a:defRPr>
            </a:pPr>
            <a:r>
              <a:t>Based on your uploaded Kruskal’s Algorithm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By the end, you should be able to explain the idea, steps, correctness intuition, and complexity.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469880" cy="713232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11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300" b="1">
                <a:solidFill>
                  <a:srgbClr val="3CD3E8"/>
                </a:solidFill>
                <a:latin typeface="Aptos"/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Minimum spanning tree</a:t>
            </a:r>
          </a:p>
          <a:p>
            <a:pPr>
              <a:spcAft>
                <a:spcPts val="800"/>
              </a:spcAft>
              <a:defRPr sz="1200" b="0">
                <a:solidFill>
                  <a:srgbClr val="B4C4DC"/>
                </a:solidFill>
                <a:latin typeface="Aptos"/>
              </a:defRPr>
            </a:pPr>
            <a:r>
              <a:t>What it is and why it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87168"/>
            <a:ext cx="10469880" cy="713232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11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300" b="1">
                <a:solidFill>
                  <a:srgbClr val="3CD3E8"/>
                </a:solidFill>
                <a:latin typeface="Aptos"/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Greedy strategy</a:t>
            </a:r>
          </a:p>
          <a:p>
            <a:pPr>
              <a:spcAft>
                <a:spcPts val="800"/>
              </a:spcAft>
              <a:defRPr sz="1200" b="0">
                <a:solidFill>
                  <a:srgbClr val="B4C4DC"/>
                </a:solidFill>
                <a:latin typeface="Aptos"/>
              </a:defRPr>
            </a:pPr>
            <a:r>
              <a:t>Why we consider the lightest edge 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19856"/>
            <a:ext cx="10469880" cy="713232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11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300" b="1">
                <a:solidFill>
                  <a:srgbClr val="3CD3E8"/>
                </a:solidFill>
                <a:latin typeface="Aptos"/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Cycle detection</a:t>
            </a:r>
          </a:p>
          <a:p>
            <a:pPr>
              <a:spcAft>
                <a:spcPts val="800"/>
              </a:spcAft>
              <a:defRPr sz="1200" b="0">
                <a:solidFill>
                  <a:srgbClr val="B4C4DC"/>
                </a:solidFill>
                <a:latin typeface="Aptos"/>
              </a:defRPr>
            </a:pPr>
            <a:r>
              <a:t>When to accept or reject an 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52544"/>
            <a:ext cx="10469880" cy="713232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11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300" b="1">
                <a:solidFill>
                  <a:srgbClr val="3CD3E8"/>
                </a:solidFill>
                <a:latin typeface="Aptos"/>
              </a:defRPr>
            </a:pPr>
            <a:r>
              <a:t>04</a:t>
            </a:r>
          </a:p>
          <a:p>
            <a:pPr>
              <a:spcAft>
                <a:spcPts val="8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Disjoint Set Union</a:t>
            </a:r>
          </a:p>
          <a:p>
            <a:pPr>
              <a:spcAft>
                <a:spcPts val="800"/>
              </a:spcAft>
              <a:defRPr sz="1200" b="0">
                <a:solidFill>
                  <a:srgbClr val="B4C4DC"/>
                </a:solidFill>
                <a:latin typeface="Aptos"/>
              </a:defRPr>
            </a:pPr>
            <a:r>
              <a:t>How components are tracked efficiently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85232"/>
            <a:ext cx="10469880" cy="713232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11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300" b="1">
                <a:solidFill>
                  <a:srgbClr val="3CD3E8"/>
                </a:solidFill>
                <a:latin typeface="Aptos"/>
              </a:defRPr>
            </a:pPr>
            <a:r>
              <a:t>05</a:t>
            </a:r>
          </a:p>
          <a:p>
            <a:pPr>
              <a:spcAft>
                <a:spcPts val="8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Walkthrough &amp; analysis</a:t>
            </a:r>
          </a:p>
          <a:p>
            <a:pPr>
              <a:spcAft>
                <a:spcPts val="800"/>
              </a:spcAft>
              <a:defRPr sz="1200" b="0">
                <a:solidFill>
                  <a:srgbClr val="B4C4DC"/>
                </a:solidFill>
                <a:latin typeface="Aptos"/>
              </a:defRPr>
            </a:pPr>
            <a:r>
              <a:t>Pseudocode, complexity, and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First: what is a spanning tree?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A connected, cycle-free selection of edges that reaches every vertex.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828800" y="1828800"/>
            <a:ext cx="1828800" cy="914400"/>
          </a:xfrm>
          <a:prstGeom prst="line">
            <a:avLst/>
          </a:prstGeom>
          <a:ln w="19050">
            <a:solidFill>
              <a:srgbClr val="B4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78608" y="2048255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743200"/>
            <a:ext cx="2011680" cy="1097280"/>
          </a:xfrm>
          <a:prstGeom prst="line">
            <a:avLst/>
          </a:prstGeom>
          <a:ln w="19050">
            <a:solidFill>
              <a:srgbClr val="B4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70048" y="3054096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1828800"/>
            <a:ext cx="182880" cy="2011680"/>
          </a:xfrm>
          <a:prstGeom prst="line">
            <a:avLst/>
          </a:prstGeom>
          <a:ln w="19050">
            <a:solidFill>
              <a:srgbClr val="B4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84447" y="2596896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0" y="1828800"/>
            <a:ext cx="1920240" cy="274320"/>
          </a:xfrm>
          <a:prstGeom prst="line">
            <a:avLst/>
          </a:prstGeom>
          <a:ln w="19050">
            <a:solidFill>
              <a:srgbClr val="B4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53128" y="1728216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840480" y="2103120"/>
            <a:ext cx="1737360" cy="1737360"/>
          </a:xfrm>
          <a:prstGeom prst="line">
            <a:avLst/>
          </a:prstGeom>
          <a:ln w="19050">
            <a:solidFill>
              <a:srgbClr val="B4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44568" y="2734056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0" y="3840480"/>
            <a:ext cx="1920240" cy="182880"/>
          </a:xfrm>
          <a:prstGeom prst="line">
            <a:avLst/>
          </a:prstGeom>
          <a:ln w="19050">
            <a:solidFill>
              <a:srgbClr val="B4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36008" y="3694176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77840" y="2103120"/>
            <a:ext cx="182880" cy="1920240"/>
          </a:xfrm>
          <a:prstGeom prst="line">
            <a:avLst/>
          </a:prstGeom>
          <a:ln w="19050">
            <a:solidFill>
              <a:srgbClr val="B4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04688" y="2825496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1609344" y="2523744"/>
            <a:ext cx="438912" cy="438912"/>
          </a:xfrm>
          <a:prstGeom prst="ellipse">
            <a:avLst/>
          </a:prstGeom>
          <a:solidFill>
            <a:srgbClr val="2470DC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3438144" y="1609344"/>
            <a:ext cx="438912" cy="438912"/>
          </a:xfrm>
          <a:prstGeom prst="ellipse">
            <a:avLst/>
          </a:prstGeom>
          <a:solidFill>
            <a:srgbClr val="2470DC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3" name="Oval 22"/>
          <p:cNvSpPr/>
          <p:nvPr/>
        </p:nvSpPr>
        <p:spPr>
          <a:xfrm>
            <a:off x="3621024" y="3621024"/>
            <a:ext cx="438912" cy="438912"/>
          </a:xfrm>
          <a:prstGeom prst="ellipse">
            <a:avLst/>
          </a:prstGeom>
          <a:solidFill>
            <a:srgbClr val="2470DC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5358383" y="1883663"/>
            <a:ext cx="438912" cy="438912"/>
          </a:xfrm>
          <a:prstGeom prst="ellipse">
            <a:avLst/>
          </a:prstGeom>
          <a:solidFill>
            <a:srgbClr val="2470DC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5541264" y="3803904"/>
            <a:ext cx="438912" cy="438912"/>
          </a:xfrm>
          <a:prstGeom prst="ellipse">
            <a:avLst/>
          </a:prstGeom>
          <a:solidFill>
            <a:srgbClr val="2470DC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1737360"/>
            <a:ext cx="4297680" cy="132588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2000" b="1">
                <a:solidFill>
                  <a:srgbClr val="3CD3E8"/>
                </a:solidFill>
                <a:latin typeface="Aptos"/>
              </a:defRPr>
            </a:pPr>
            <a:r>
              <a:t>A spanning tree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• Connects every vertex</a:t>
            </a:r>
            <a:br/>
            <a:r>
              <a:t>• Has no cycles</a:t>
            </a:r>
            <a:br/>
            <a:r>
              <a:t>• With V vertices, has V − 1 edges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3337560"/>
            <a:ext cx="4297680" cy="123444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FFC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900" b="1">
                <a:solidFill>
                  <a:srgbClr val="FFC44A"/>
                </a:solidFill>
                <a:latin typeface="Aptos"/>
              </a:defRPr>
            </a:pPr>
            <a:r>
              <a:t>Minimum spanning tree (MST)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Among all spanning trees, it has the smallest total edge weight.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5074920"/>
            <a:ext cx="3931920" cy="6400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700" b="0">
                <a:solidFill>
                  <a:srgbClr val="B4C4DC"/>
                </a:solidFill>
                <a:latin typeface="Aptos"/>
              </a:defRPr>
            </a:pPr>
            <a:r>
              <a:t>Think: the cheapest way to connect every 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What problem does Kruskal solve?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Input: a connected, undirected, weighted graph G = (V, 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120640" cy="182880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500" b="1">
                <a:solidFill>
                  <a:srgbClr val="3CD3E8"/>
                </a:solidFill>
                <a:latin typeface="Aptos"/>
              </a:defRPr>
            </a:pPr>
            <a:r>
              <a:t>Goal</a:t>
            </a:r>
          </a:p>
          <a:p>
            <a:pPr>
              <a:spcAft>
                <a:spcPts val="800"/>
              </a:spcAft>
              <a:defRPr sz="2100" b="1">
                <a:solidFill>
                  <a:srgbClr val="F5F8FF"/>
                </a:solidFill>
                <a:latin typeface="Aptos"/>
              </a:defRPr>
            </a:pPr>
            <a:r>
              <a:t>Choose a subset of edges that connects all vertices with minimum total weight.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182880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FFC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500" b="1">
                <a:solidFill>
                  <a:srgbClr val="FFC44A"/>
                </a:solidFill>
                <a:latin typeface="Aptos"/>
              </a:defRPr>
            </a:pPr>
            <a:r>
              <a:t>Constraints</a:t>
            </a:r>
          </a:p>
          <a:p>
            <a:pPr>
              <a:spcAft>
                <a:spcPts val="8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• Do not create a cycle</a:t>
            </a:r>
            <a:br/>
            <a:r>
              <a:t>• Use exactly V − 1 edges in a spanning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2000" b="1">
                <a:solidFill>
                  <a:srgbClr val="3CD3E8"/>
                </a:solidFill>
                <a:latin typeface="Aptos"/>
              </a:defRPr>
            </a:pPr>
            <a:r>
              <a:t>Typical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241280" cy="11887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 Designing low-cost networks: roads, cables, pipes, or computer links</a:t>
            </a:r>
          </a:p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 Clustering and network planning when connection cost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Kruskal’s greedy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At each step, choose the cheapest edge that is safe to add.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057400" cy="205740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400" b="1">
                <a:solidFill>
                  <a:srgbClr val="3CD3E8"/>
                </a:solidFill>
                <a:latin typeface="Aptos"/>
              </a:defRPr>
            </a:pPr>
            <a:r>
              <a:t>1</a:t>
            </a:r>
          </a:p>
          <a:p>
            <a:pPr>
              <a:spcAft>
                <a:spcPts val="8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Sort</a:t>
            </a:r>
          </a:p>
          <a:p>
            <a:pPr>
              <a:spcAft>
                <a:spcPts val="800"/>
              </a:spcAft>
              <a:defRPr sz="1400" b="0">
                <a:solidFill>
                  <a:srgbClr val="B4C4DC"/>
                </a:solidFill>
                <a:latin typeface="Aptos"/>
              </a:defRPr>
            </a:pPr>
            <a:r>
              <a:t>Sort all edges by increasing weight.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4056" y="2651760"/>
            <a:ext cx="256032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2000" b="1">
                <a:solidFill>
                  <a:srgbClr val="FFC44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8" y="1965960"/>
            <a:ext cx="2057400" cy="205740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400" b="1">
                <a:solidFill>
                  <a:srgbClr val="3CD3E8"/>
                </a:solidFill>
                <a:latin typeface="Aptos"/>
              </a:defRPr>
            </a:pPr>
            <a:r>
              <a:t>2</a:t>
            </a:r>
          </a:p>
          <a:p>
            <a:pPr>
              <a:spcAft>
                <a:spcPts val="8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Inspect</a:t>
            </a:r>
          </a:p>
          <a:p>
            <a:pPr>
              <a:spcAft>
                <a:spcPts val="800"/>
              </a:spcAft>
              <a:defRPr sz="1400" b="0">
                <a:solidFill>
                  <a:srgbClr val="B4C4DC"/>
                </a:solidFill>
                <a:latin typeface="Aptos"/>
              </a:defRPr>
            </a:pPr>
            <a:r>
              <a:t>Take the next lightest edge.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8344" y="2651760"/>
            <a:ext cx="256032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2000" b="1">
                <a:solidFill>
                  <a:srgbClr val="FFC44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94376" y="1965960"/>
            <a:ext cx="2057400" cy="205740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400" b="1">
                <a:solidFill>
                  <a:srgbClr val="3CD3E8"/>
                </a:solidFill>
                <a:latin typeface="Aptos"/>
              </a:defRPr>
            </a:pPr>
            <a:r>
              <a:t>3</a:t>
            </a:r>
          </a:p>
          <a:p>
            <a:pPr>
              <a:spcAft>
                <a:spcPts val="8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Check</a:t>
            </a:r>
          </a:p>
          <a:p>
            <a:pPr>
              <a:spcAft>
                <a:spcPts val="800"/>
              </a:spcAft>
              <a:defRPr sz="1400" b="0">
                <a:solidFill>
                  <a:srgbClr val="B4C4DC"/>
                </a:solidFill>
                <a:latin typeface="Aptos"/>
              </a:defRPr>
            </a:pPr>
            <a:r>
              <a:t>Would it create a cycle?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632" y="2651760"/>
            <a:ext cx="256032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2000" b="1">
                <a:solidFill>
                  <a:srgbClr val="FFC44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98664" y="1965960"/>
            <a:ext cx="2057400" cy="205740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400" b="1">
                <a:solidFill>
                  <a:srgbClr val="3CD3E8"/>
                </a:solidFill>
                <a:latin typeface="Aptos"/>
              </a:defRPr>
            </a:pPr>
            <a:r>
              <a:t>4</a:t>
            </a:r>
          </a:p>
          <a:p>
            <a:pPr>
              <a:spcAft>
                <a:spcPts val="8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Decide</a:t>
            </a:r>
          </a:p>
          <a:p>
            <a:pPr>
              <a:spcAft>
                <a:spcPts val="800"/>
              </a:spcAft>
              <a:defRPr sz="1400" b="0">
                <a:solidFill>
                  <a:srgbClr val="B4C4DC"/>
                </a:solidFill>
                <a:latin typeface="Aptos"/>
              </a:defRPr>
            </a:pPr>
            <a:r>
              <a:t>Accept if safe; otherwise reject.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651760"/>
            <a:ext cx="256032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2000" b="1">
                <a:solidFill>
                  <a:srgbClr val="FFC44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02952" y="1965960"/>
            <a:ext cx="2057400" cy="205740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400" b="1">
                <a:solidFill>
                  <a:srgbClr val="3CD3E8"/>
                </a:solidFill>
                <a:latin typeface="Aptos"/>
              </a:defRPr>
            </a:pPr>
            <a:r>
              <a:t>5</a:t>
            </a:r>
          </a:p>
          <a:p>
            <a:pPr>
              <a:spcAft>
                <a:spcPts val="8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Stop</a:t>
            </a:r>
          </a:p>
          <a:p>
            <a:pPr>
              <a:spcAft>
                <a:spcPts val="800"/>
              </a:spcAft>
              <a:defRPr sz="1400" b="0">
                <a:solidFill>
                  <a:srgbClr val="B4C4DC"/>
                </a:solidFill>
                <a:latin typeface="Aptos"/>
              </a:defRPr>
            </a:pPr>
            <a:r>
              <a:t>Stop after selecting V − 1 edges.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663440"/>
            <a:ext cx="9966960" cy="868680"/>
          </a:xfrm>
          <a:prstGeom prst="roundRect">
            <a:avLst/>
          </a:prstGeom>
          <a:solidFill>
            <a:srgbClr val="11274E"/>
          </a:solidFill>
          <a:ln w="15240">
            <a:solidFill>
              <a:srgbClr val="FFC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FC44A"/>
                </a:solidFill>
                <a:latin typeface="Aptos"/>
              </a:defRPr>
            </a:pPr>
            <a:r>
              <a:t>Greedy does not mean random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Every decision takes the lightest currently safe edge; cycle checks protect the tree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Cycle detection: the key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An edge is safe if its endpoints are in different connected components.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3891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600" b="1">
                <a:solidFill>
                  <a:srgbClr val="48D597"/>
                </a:solidFill>
                <a:latin typeface="Aptos"/>
              </a:defRPr>
            </a:pPr>
            <a:r>
              <a:t>SAFE EDGE — ACCEPT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645920" y="2286000"/>
            <a:ext cx="1188720" cy="548640"/>
          </a:xfrm>
          <a:prstGeom prst="line">
            <a:avLst/>
          </a:prstGeom>
          <a:ln w="38100">
            <a:solidFill>
              <a:srgbClr val="48D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75688" y="2322575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926080" y="2834640"/>
            <a:ext cx="1280160" cy="822960"/>
          </a:xfrm>
          <a:prstGeom prst="line">
            <a:avLst/>
          </a:prstGeom>
          <a:ln w="38100">
            <a:solidFill>
              <a:srgbClr val="48D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01568" y="3008375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2286000"/>
            <a:ext cx="91440" cy="1371600"/>
          </a:xfrm>
          <a:prstGeom prst="line">
            <a:avLst/>
          </a:prstGeom>
          <a:ln w="38100">
            <a:solidFill>
              <a:srgbClr val="FFC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15768" y="2734056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1426464" y="2615184"/>
            <a:ext cx="438912" cy="438912"/>
          </a:xfrm>
          <a:prstGeom prst="ellipse">
            <a:avLst/>
          </a:prstGeom>
          <a:solidFill>
            <a:srgbClr val="48D597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2615184" y="2066543"/>
            <a:ext cx="438912" cy="438912"/>
          </a:xfrm>
          <a:prstGeom prst="ellipse">
            <a:avLst/>
          </a:prstGeom>
          <a:solidFill>
            <a:srgbClr val="48D597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2706624" y="3438144"/>
            <a:ext cx="438912" cy="438912"/>
          </a:xfrm>
          <a:prstGeom prst="ellipse">
            <a:avLst/>
          </a:prstGeom>
          <a:solidFill>
            <a:srgbClr val="48D597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3986783" y="2615184"/>
            <a:ext cx="438912" cy="438912"/>
          </a:xfrm>
          <a:prstGeom prst="ellipse">
            <a:avLst/>
          </a:prstGeom>
          <a:solidFill>
            <a:srgbClr val="48D597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4480560" cy="6400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500" b="0">
                <a:solidFill>
                  <a:srgbClr val="B4C4DC"/>
                </a:solidFill>
                <a:latin typeface="Aptos"/>
              </a:defRPr>
            </a:pPr>
            <a:r>
              <a:t>It joins two separate components.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08760"/>
            <a:ext cx="43891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600" b="1">
                <a:solidFill>
                  <a:srgbClr val="FF6474"/>
                </a:solidFill>
                <a:latin typeface="Aptos"/>
              </a:defRPr>
            </a:pPr>
            <a:r>
              <a:t>CYCLE EDGE — REJECT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949440" y="2194560"/>
            <a:ext cx="1371600" cy="274320"/>
          </a:xfrm>
          <a:prstGeom prst="line">
            <a:avLst/>
          </a:prstGeom>
          <a:ln w="25400">
            <a:solidFill>
              <a:srgbClr val="FF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70648" y="2093975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21040" y="2194560"/>
            <a:ext cx="365760" cy="1463040"/>
          </a:xfrm>
          <a:prstGeom prst="line">
            <a:avLst/>
          </a:prstGeom>
          <a:ln w="25400">
            <a:solidFill>
              <a:srgbClr val="FF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39328" y="2688336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858000" y="3657600"/>
            <a:ext cx="1828800" cy="91439"/>
          </a:xfrm>
          <a:prstGeom prst="line">
            <a:avLst/>
          </a:prstGeom>
          <a:ln w="25400">
            <a:solidFill>
              <a:srgbClr val="FF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07808" y="3465575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6858000" y="2468880"/>
            <a:ext cx="91440" cy="1280159"/>
          </a:xfrm>
          <a:prstGeom prst="line">
            <a:avLst/>
          </a:prstGeom>
          <a:ln w="25400">
            <a:solidFill>
              <a:srgbClr val="FF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39128" y="2871215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6729983" y="2249424"/>
            <a:ext cx="438912" cy="438912"/>
          </a:xfrm>
          <a:prstGeom prst="ellipse">
            <a:avLst/>
          </a:prstGeom>
          <a:solidFill>
            <a:srgbClr val="FF6474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9" name="Oval 28"/>
          <p:cNvSpPr/>
          <p:nvPr/>
        </p:nvSpPr>
        <p:spPr>
          <a:xfrm>
            <a:off x="8101583" y="1975104"/>
            <a:ext cx="438912" cy="438912"/>
          </a:xfrm>
          <a:prstGeom prst="ellipse">
            <a:avLst/>
          </a:prstGeom>
          <a:solidFill>
            <a:srgbClr val="FF6474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0" name="Oval 29"/>
          <p:cNvSpPr/>
          <p:nvPr/>
        </p:nvSpPr>
        <p:spPr>
          <a:xfrm>
            <a:off x="8467344" y="3438144"/>
            <a:ext cx="438912" cy="438912"/>
          </a:xfrm>
          <a:prstGeom prst="ellipse">
            <a:avLst/>
          </a:prstGeom>
          <a:solidFill>
            <a:srgbClr val="FF6474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6638544" y="3529583"/>
            <a:ext cx="438912" cy="438912"/>
          </a:xfrm>
          <a:prstGeom prst="ellipse">
            <a:avLst/>
          </a:prstGeom>
          <a:solidFill>
            <a:srgbClr val="FF6474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89120"/>
            <a:ext cx="4389120" cy="6400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500" b="0">
                <a:solidFill>
                  <a:srgbClr val="B4C4DC"/>
                </a:solidFill>
                <a:latin typeface="Aptos"/>
              </a:defRPr>
            </a:pPr>
            <a:r>
              <a:t>A path already connects the endpoints.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94560" y="5303520"/>
            <a:ext cx="7772400" cy="64008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3C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Rule: if Find(u) = Find(v), reject; otherwise accept and Union(u, v).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How do we check cycles efficiently?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Use Disjoint Set Union (DSU), also called Union–Find.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74920" cy="141732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900" b="1">
                <a:solidFill>
                  <a:srgbClr val="3CD3E8"/>
                </a:solidFill>
                <a:latin typeface="Aptos"/>
              </a:defRPr>
            </a:pPr>
            <a:r>
              <a:t>FIND(x)</a:t>
            </a:r>
          </a:p>
          <a:p>
            <a:pPr>
              <a:spcAft>
                <a:spcPts val="8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Returns the representative of the component containing 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074920" cy="141732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FFC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900" b="1">
                <a:solidFill>
                  <a:srgbClr val="FFC44A"/>
                </a:solidFill>
                <a:latin typeface="Aptos"/>
              </a:defRPr>
            </a:pPr>
            <a:r>
              <a:t>UNION(u, v)</a:t>
            </a:r>
          </a:p>
          <a:p>
            <a:pPr>
              <a:spcAft>
                <a:spcPts val="8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Merges the components containing u and 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2000" b="1">
                <a:solidFill>
                  <a:srgbClr val="F5F8FF"/>
                </a:solidFill>
                <a:latin typeface="Aptos"/>
              </a:defRPr>
            </a:pPr>
            <a:r>
              <a:t>Cycle test for an edge (u, v)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60520"/>
            <a:ext cx="4892040" cy="118872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FF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800" b="1">
                <a:solidFill>
                  <a:srgbClr val="FF6474"/>
                </a:solidFill>
                <a:latin typeface="Aptos"/>
              </a:defRPr>
            </a:pPr>
            <a:r>
              <a:t>Find(u) == Find(v)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Same component → edge creates a cycle → reject.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60520"/>
            <a:ext cx="4892040" cy="118872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800" b="1">
                <a:solidFill>
                  <a:srgbClr val="48D597"/>
                </a:solidFill>
                <a:latin typeface="Aptos"/>
              </a:defRPr>
            </a:pPr>
            <a:r>
              <a:t>Find(u) != Find(v)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Different components → safe to add → Union(u, v).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80644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300" b="0">
                <a:solidFill>
                  <a:srgbClr val="B4C4DC"/>
                </a:solidFill>
                <a:latin typeface="Aptos"/>
              </a:defRPr>
            </a:pPr>
            <a:r>
              <a:t>Path compression + union by rank/size make DSU operations almost constant time amortized.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Walkthrough: sort the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Illustrative example used to demonstrate the process (edge weights are costs).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600200"/>
          <a:ext cx="6583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468880"/>
                <a:gridCol w="3017520"/>
              </a:tblGrid>
              <a:tr h="47752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5F8FF"/>
                          </a:solidFill>
                        </a:defRPr>
                      </a:pPr>
                      <a:r>
                        <a:t>Order</a:t>
                      </a:r>
                    </a:p>
                  </a:txBody>
                  <a:tcPr>
                    <a:solidFill>
                      <a:srgbClr val="2470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5F8FF"/>
                          </a:solidFill>
                        </a:defRPr>
                      </a:pPr>
                      <a:r>
                        <a:t>Edge</a:t>
                      </a:r>
                    </a:p>
                  </a:txBody>
                  <a:tcPr>
                    <a:solidFill>
                      <a:srgbClr val="2470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5F8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2470D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72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A–B</a:t>
                      </a:r>
                    </a:p>
                  </a:txBody>
                  <a:tcPr>
                    <a:solidFill>
                      <a:srgbClr val="172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72B4E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12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B–C</a:t>
                      </a:r>
                    </a:p>
                  </a:txBody>
                  <a:tcPr>
                    <a:solidFill>
                      <a:srgbClr val="112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1274E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72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A–C</a:t>
                      </a:r>
                    </a:p>
                  </a:txBody>
                  <a:tcPr>
                    <a:solidFill>
                      <a:srgbClr val="172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72B4E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2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C–D</a:t>
                      </a:r>
                    </a:p>
                  </a:txBody>
                  <a:tcPr>
                    <a:solidFill>
                      <a:srgbClr val="112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274E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72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D–E</a:t>
                      </a:r>
                    </a:p>
                  </a:txBody>
                  <a:tcPr>
                    <a:solidFill>
                      <a:srgbClr val="172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72B4E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12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C–E</a:t>
                      </a:r>
                    </a:p>
                  </a:txBody>
                  <a:tcPr>
                    <a:solidFill>
                      <a:srgbClr val="112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1274E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72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E–F</a:t>
                      </a:r>
                    </a:p>
                  </a:txBody>
                  <a:tcPr>
                    <a:solidFill>
                      <a:srgbClr val="172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72B4E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12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D–F</a:t>
                      </a:r>
                    </a:p>
                  </a:txBody>
                  <a:tcPr>
                    <a:solidFill>
                      <a:srgbClr val="112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1274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46720" y="1828800"/>
            <a:ext cx="3200400" cy="137160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500" b="1">
                <a:solidFill>
                  <a:srgbClr val="3CD3E8"/>
                </a:solidFill>
                <a:latin typeface="Aptos"/>
              </a:defRPr>
            </a:pPr>
            <a:r>
              <a:t>Vertices</a:t>
            </a:r>
          </a:p>
          <a:p>
            <a:pPr>
              <a:spcAft>
                <a:spcPts val="8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A, B, C, D, E, 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566160"/>
            <a:ext cx="3200400" cy="137160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FFC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500" b="1">
                <a:solidFill>
                  <a:srgbClr val="FFC44A"/>
                </a:solidFill>
                <a:latin typeface="Aptos"/>
              </a:defRPr>
            </a:pPr>
            <a:r>
              <a:t>Target edge count</a:t>
            </a:r>
          </a:p>
          <a:p>
            <a:pPr>
              <a:spcAft>
                <a:spcPts val="800"/>
              </a:spcAft>
              <a:defRPr sz="1800" b="1">
                <a:solidFill>
                  <a:srgbClr val="F5F8FF"/>
                </a:solidFill>
                <a:latin typeface="Aptos"/>
              </a:defRPr>
            </a:pPr>
            <a:r>
              <a:t>V − 1 = 6 − 1 = 5 edges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5257800"/>
            <a:ext cx="3200400" cy="5486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500" b="0">
                <a:solidFill>
                  <a:srgbClr val="B4C4DC"/>
                </a:solidFill>
                <a:latin typeface="Aptos"/>
              </a:defRPr>
            </a:pPr>
            <a:r>
              <a:t>Process edges in ascending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Walkthrough: accept or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Maintain a forest (a collection of trees) until all vertices are connected.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10515600" cy="521207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A–B (1)</a:t>
            </a:r>
          </a:p>
          <a:p>
            <a:pPr>
              <a:spcAft>
                <a:spcPts val="800"/>
              </a:spcAft>
              <a:defRPr sz="1300" b="1">
                <a:solidFill>
                  <a:srgbClr val="48D597"/>
                </a:solidFill>
                <a:latin typeface="Aptos"/>
              </a:defRPr>
            </a:pPr>
            <a:r>
              <a:t>ACCEPT</a:t>
            </a:r>
          </a:p>
          <a:p>
            <a:pPr>
              <a:spcAft>
                <a:spcPts val="800"/>
              </a:spcAft>
              <a:defRPr sz="1300" b="0">
                <a:solidFill>
                  <a:srgbClr val="B4C4DC"/>
                </a:solidFill>
                <a:latin typeface="Aptos"/>
              </a:defRPr>
            </a:pPr>
            <a:r>
              <a:t>Connects A and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67128"/>
            <a:ext cx="10515600" cy="521207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B–C (2)</a:t>
            </a:r>
          </a:p>
          <a:p>
            <a:pPr>
              <a:spcAft>
                <a:spcPts val="800"/>
              </a:spcAft>
              <a:defRPr sz="1300" b="1">
                <a:solidFill>
                  <a:srgbClr val="48D597"/>
                </a:solidFill>
                <a:latin typeface="Aptos"/>
              </a:defRPr>
            </a:pPr>
            <a:r>
              <a:t>ACCEPT</a:t>
            </a:r>
          </a:p>
          <a:p>
            <a:pPr>
              <a:spcAft>
                <a:spcPts val="800"/>
              </a:spcAft>
              <a:defRPr sz="1300" b="0">
                <a:solidFill>
                  <a:srgbClr val="B4C4DC"/>
                </a:solidFill>
                <a:latin typeface="Aptos"/>
              </a:defRPr>
            </a:pPr>
            <a:r>
              <a:t>Connects B–C component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25496"/>
            <a:ext cx="10515600" cy="521207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FF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A–C (3)</a:t>
            </a:r>
          </a:p>
          <a:p>
            <a:pPr>
              <a:spcAft>
                <a:spcPts val="800"/>
              </a:spcAft>
              <a:defRPr sz="1300" b="1">
                <a:solidFill>
                  <a:srgbClr val="FF6474"/>
                </a:solidFill>
                <a:latin typeface="Aptos"/>
              </a:defRPr>
            </a:pPr>
            <a:r>
              <a:t>REJECT</a:t>
            </a:r>
          </a:p>
          <a:p>
            <a:pPr>
              <a:spcAft>
                <a:spcPts val="800"/>
              </a:spcAft>
              <a:defRPr sz="1300" b="0">
                <a:solidFill>
                  <a:srgbClr val="B4C4DC"/>
                </a:solidFill>
                <a:latin typeface="Aptos"/>
              </a:defRPr>
            </a:pPr>
            <a:r>
              <a:t>A and C already connected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83864"/>
            <a:ext cx="10515600" cy="521207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C–D (4)</a:t>
            </a:r>
          </a:p>
          <a:p>
            <a:pPr>
              <a:spcAft>
                <a:spcPts val="800"/>
              </a:spcAft>
              <a:defRPr sz="1300" b="1">
                <a:solidFill>
                  <a:srgbClr val="48D597"/>
                </a:solidFill>
                <a:latin typeface="Aptos"/>
              </a:defRPr>
            </a:pPr>
            <a:r>
              <a:t>ACCEPT</a:t>
            </a:r>
          </a:p>
          <a:p>
            <a:pPr>
              <a:spcAft>
                <a:spcPts val="800"/>
              </a:spcAft>
              <a:defRPr sz="1300" b="0">
                <a:solidFill>
                  <a:srgbClr val="B4C4DC"/>
                </a:solidFill>
                <a:latin typeface="Aptos"/>
              </a:defRPr>
            </a:pPr>
            <a:r>
              <a:t>Adds D to the tree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42231"/>
            <a:ext cx="10515600" cy="521207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D–E (5)</a:t>
            </a:r>
          </a:p>
          <a:p>
            <a:pPr>
              <a:spcAft>
                <a:spcPts val="800"/>
              </a:spcAft>
              <a:defRPr sz="1300" b="1">
                <a:solidFill>
                  <a:srgbClr val="48D597"/>
                </a:solidFill>
                <a:latin typeface="Aptos"/>
              </a:defRPr>
            </a:pPr>
            <a:r>
              <a:t>ACCEPT</a:t>
            </a:r>
          </a:p>
          <a:p>
            <a:pPr>
              <a:spcAft>
                <a:spcPts val="800"/>
              </a:spcAft>
              <a:defRPr sz="1300" b="0">
                <a:solidFill>
                  <a:srgbClr val="B4C4DC"/>
                </a:solidFill>
                <a:latin typeface="Aptos"/>
              </a:defRPr>
            </a:pPr>
            <a:r>
              <a:t>Adds E to the tree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00600"/>
            <a:ext cx="10515600" cy="521207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FF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C–E (6)</a:t>
            </a:r>
          </a:p>
          <a:p>
            <a:pPr>
              <a:spcAft>
                <a:spcPts val="800"/>
              </a:spcAft>
              <a:defRPr sz="1300" b="1">
                <a:solidFill>
                  <a:srgbClr val="FF6474"/>
                </a:solidFill>
                <a:latin typeface="Aptos"/>
              </a:defRPr>
            </a:pPr>
            <a:r>
              <a:t>REJECT</a:t>
            </a:r>
          </a:p>
          <a:p>
            <a:pPr>
              <a:spcAft>
                <a:spcPts val="800"/>
              </a:spcAft>
              <a:defRPr sz="1300" b="0">
                <a:solidFill>
                  <a:srgbClr val="B4C4DC"/>
                </a:solidFill>
                <a:latin typeface="Aptos"/>
              </a:defRPr>
            </a:pPr>
            <a:r>
              <a:t>Would create a 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458968"/>
            <a:ext cx="10515600" cy="521207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E–F (7)</a:t>
            </a:r>
          </a:p>
          <a:p>
            <a:pPr>
              <a:spcAft>
                <a:spcPts val="800"/>
              </a:spcAft>
              <a:defRPr sz="1300" b="1">
                <a:solidFill>
                  <a:srgbClr val="48D597"/>
                </a:solidFill>
                <a:latin typeface="Aptos"/>
              </a:defRPr>
            </a:pPr>
            <a:r>
              <a:t>ACCEPT</a:t>
            </a:r>
          </a:p>
          <a:p>
            <a:pPr>
              <a:spcAft>
                <a:spcPts val="800"/>
              </a:spcAft>
              <a:defRPr sz="1300" b="0">
                <a:solidFill>
                  <a:srgbClr val="B4C4DC"/>
                </a:solidFill>
                <a:latin typeface="Aptos"/>
              </a:defRPr>
            </a:pPr>
            <a:r>
              <a:t>Adds F; now 5 edges selected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63640"/>
            <a:ext cx="996696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300" b="1">
                <a:solidFill>
                  <a:srgbClr val="3CD3E8"/>
                </a:solidFill>
                <a:latin typeface="Aptos"/>
              </a:defRPr>
            </a:pPr>
            <a:r>
              <a:t>Stop after 5 edges: the spanning tree is complete.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Result: the minimum spanning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Selected edges: A–B, B–C, C–D, D–E, E–F.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2011680"/>
            <a:ext cx="1645920" cy="1097280"/>
          </a:xfrm>
          <a:prstGeom prst="line">
            <a:avLst/>
          </a:prstGeom>
          <a:ln w="50800">
            <a:solidFill>
              <a:srgbClr val="48D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21408" y="2322575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011680"/>
            <a:ext cx="1737360" cy="1188720"/>
          </a:xfrm>
          <a:prstGeom prst="line">
            <a:avLst/>
          </a:prstGeom>
          <a:ln w="50800">
            <a:solidFill>
              <a:srgbClr val="48D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13048" y="2368296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846320" y="2011680"/>
            <a:ext cx="1737360" cy="1188720"/>
          </a:xfrm>
          <a:prstGeom prst="line">
            <a:avLst/>
          </a:prstGeom>
          <a:ln w="50800">
            <a:solidFill>
              <a:srgbClr val="48D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50408" y="2368296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0" y="2011680"/>
            <a:ext cx="1645920" cy="1188720"/>
          </a:xfrm>
          <a:prstGeom prst="line">
            <a:avLst/>
          </a:prstGeom>
          <a:ln w="50800">
            <a:solidFill>
              <a:srgbClr val="48D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42048" y="2368296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229600" y="2103120"/>
            <a:ext cx="1737360" cy="1097280"/>
          </a:xfrm>
          <a:prstGeom prst="line">
            <a:avLst/>
          </a:prstGeom>
          <a:ln w="50800">
            <a:solidFill>
              <a:srgbClr val="48D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933688" y="2414015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300" b="1">
                <a:solidFill>
                  <a:srgbClr val="FFC44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2834640"/>
            <a:ext cx="548640" cy="548640"/>
          </a:xfrm>
          <a:prstGeom prst="ellipse">
            <a:avLst/>
          </a:prstGeom>
          <a:solidFill>
            <a:srgbClr val="2470DC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2834640" y="1737360"/>
            <a:ext cx="548640" cy="548640"/>
          </a:xfrm>
          <a:prstGeom prst="ellipse">
            <a:avLst/>
          </a:prstGeom>
          <a:solidFill>
            <a:srgbClr val="2470DC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2926080"/>
            <a:ext cx="548640" cy="548640"/>
          </a:xfrm>
          <a:prstGeom prst="ellipse">
            <a:avLst/>
          </a:prstGeom>
          <a:solidFill>
            <a:srgbClr val="2470DC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rgbClr val="2470DC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1" name="Oval 20"/>
          <p:cNvSpPr/>
          <p:nvPr/>
        </p:nvSpPr>
        <p:spPr>
          <a:xfrm>
            <a:off x="7955279" y="2926080"/>
            <a:ext cx="548640" cy="548640"/>
          </a:xfrm>
          <a:prstGeom prst="ellipse">
            <a:avLst/>
          </a:prstGeom>
          <a:solidFill>
            <a:srgbClr val="2470DC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2" name="Oval 21"/>
          <p:cNvSpPr/>
          <p:nvPr/>
        </p:nvSpPr>
        <p:spPr>
          <a:xfrm>
            <a:off x="9692640" y="1828799"/>
            <a:ext cx="548640" cy="548640"/>
          </a:xfrm>
          <a:prstGeom prst="ellipse">
            <a:avLst/>
          </a:prstGeom>
          <a:solidFill>
            <a:srgbClr val="2470DC"/>
          </a:solidFill>
          <a:ln w="1524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572000"/>
            <a:ext cx="3749039" cy="91440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400" b="1">
                <a:solidFill>
                  <a:srgbClr val="3CD3E8"/>
                </a:solidFill>
                <a:latin typeface="Aptos"/>
              </a:defRPr>
            </a:pPr>
            <a:r>
              <a:t>Selected edges</a:t>
            </a:r>
          </a:p>
          <a:p>
            <a:pPr>
              <a:spcAft>
                <a:spcPts val="800"/>
              </a:spcAft>
              <a:defRPr sz="1800" b="1">
                <a:solidFill>
                  <a:srgbClr val="F5F8FF"/>
                </a:solidFill>
                <a:latin typeface="Aptos"/>
              </a:defRPr>
            </a:pPr>
            <a:r>
              <a:t>5 edges for 6 vertices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4572000"/>
            <a:ext cx="3931920" cy="91440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FFC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400" b="1">
                <a:solidFill>
                  <a:srgbClr val="FFC44A"/>
                </a:solidFill>
                <a:latin typeface="Aptos"/>
              </a:defRPr>
            </a:pPr>
            <a:r>
              <a:t>Total weight</a:t>
            </a:r>
          </a:p>
          <a:p>
            <a:pPr>
              <a:spcAft>
                <a:spcPts val="800"/>
              </a:spcAft>
              <a:defRPr sz="1800" b="1">
                <a:solidFill>
                  <a:srgbClr val="F5F8FF"/>
                </a:solidFill>
                <a:latin typeface="Aptos"/>
              </a:defRPr>
            </a:pPr>
            <a:r>
              <a:t>1 + 2 + 4 + 5 + 7 = 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806440"/>
            <a:ext cx="822960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ctr">
              <a:defRPr sz="1200" b="0">
                <a:solidFill>
                  <a:srgbClr val="B4C4DC"/>
                </a:solidFill>
                <a:latin typeface="Aptos"/>
              </a:defRPr>
            </a:pPr>
            <a:r>
              <a:t>This example is illustrative; the uploaded video uses its own graph and example total.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Kruskal’s algorithm: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The same steps work regardless of the graph’s vertex labels.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10241280" cy="4389120"/>
          </a:xfrm>
          <a:prstGeom prst="roundRect">
            <a:avLst/>
          </a:prstGeom>
          <a:solidFill>
            <a:srgbClr val="060F22"/>
          </a:solidFill>
          <a:ln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defRPr sz="1800">
                <a:solidFill>
                  <a:srgbClr val="F5F8FF"/>
                </a:solidFill>
                <a:latin typeface="Consolas"/>
              </a:defRPr>
            </a:pPr>
            <a:r>
              <a:t>KRUSKAL(G):</a:t>
            </a:r>
            <a:br/>
            <a:r>
              <a:t>    MST = empty set</a:t>
            </a:r>
            <a:br/>
            <a:r>
              <a:t>    sort all edges by nondecreasing weight</a:t>
            </a:r>
            <a:br/>
            <a:r>
              <a:t>    make each vertex its own DSU set</a:t>
            </a:r>
            <a:br/>
            <a:br/>
            <a:r>
              <a:t>    for each edge (u, v, w) in sorted edges:</a:t>
            </a:r>
            <a:br/>
            <a:r>
              <a:t>        if FIND(u) != FIND(v):</a:t>
            </a:r>
            <a:br/>
            <a:r>
              <a:t>            add (u, v, w) to MST</a:t>
            </a:r>
            <a:br/>
            <a:r>
              <a:t>            UNION(u, v)</a:t>
            </a:r>
            <a:br/>
            <a:br/>
            <a:r>
              <a:t>        if |MST| == |V| - 1:</a:t>
            </a:r>
            <a:br/>
            <a:r>
              <a:t>            break</a:t>
            </a:r>
            <a:br/>
            <a:br/>
            <a:r>
              <a:t>    return MST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10058400" cy="2743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0">
                <a:solidFill>
                  <a:srgbClr val="B4C4DC"/>
                </a:solidFill>
                <a:latin typeface="Aptos"/>
              </a:defRPr>
            </a:pPr>
            <a:r>
              <a:t>If the graph is disconnected, Kruskal returns a minimum spanning forest instead of one MST.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Time and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Let V be the number of vertices and E the number of edges.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4937760" cy="150876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3CD3E8"/>
                </a:solidFill>
                <a:latin typeface="Aptos"/>
              </a:defRPr>
            </a:pPr>
            <a:r>
              <a:t>Time complexity</a:t>
            </a:r>
          </a:p>
          <a:p>
            <a:pPr>
              <a:spcAft>
                <a:spcPts val="8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O(E log E)</a:t>
            </a:r>
          </a:p>
          <a:p>
            <a:pPr>
              <a:spcAft>
                <a:spcPts val="800"/>
              </a:spcAft>
              <a:defRPr sz="1500" b="0">
                <a:solidFill>
                  <a:srgbClr val="B4C4DC"/>
                </a:solidFill>
                <a:latin typeface="Aptos"/>
              </a:defRPr>
            </a:pPr>
            <a:r>
              <a:t>Sorting edges dominates the running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4937760" cy="150876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FFC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FC44A"/>
                </a:solidFill>
                <a:latin typeface="Aptos"/>
              </a:defRPr>
            </a:pPr>
            <a:r>
              <a:t>Space complexity</a:t>
            </a:r>
          </a:p>
          <a:p>
            <a:pPr>
              <a:spcAft>
                <a:spcPts val="800"/>
              </a:spcAft>
              <a:defRPr sz="2400" b="1">
                <a:solidFill>
                  <a:srgbClr val="F5F8FF"/>
                </a:solidFill>
                <a:latin typeface="Aptos"/>
              </a:defRPr>
            </a:pPr>
            <a:r>
              <a:t>O(V) extra DSU space</a:t>
            </a:r>
          </a:p>
          <a:p>
            <a:pPr>
              <a:spcAft>
                <a:spcPts val="800"/>
              </a:spcAft>
              <a:defRPr sz="1400" b="0">
                <a:solidFill>
                  <a:srgbClr val="B4C4DC"/>
                </a:solidFill>
                <a:latin typeface="Aptos"/>
              </a:defRPr>
            </a:pPr>
            <a:r>
              <a:t>The edge list itself typically uses O(E) storage.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2000" b="1">
                <a:solidFill>
                  <a:srgbClr val="F5F8FF"/>
                </a:solidFill>
                <a:latin typeface="Aptos"/>
              </a:defRPr>
            </a:pPr>
            <a:r>
              <a:t>Why O(E log E)?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9966960" cy="137160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•  Sorting E edges costs O(E log E).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•  DSU operations across all edges are near-linear amortized with path compression and union by rank/size.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•  Since E ≤ V² in a simple graph, O(E log E) is often written as O(E log V).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Why does the greedy choice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Kruskal uses the cut property of minimum spanning trees.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45920"/>
            <a:ext cx="10424160" cy="123444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800" b="1">
                <a:solidFill>
                  <a:srgbClr val="3CD3E8"/>
                </a:solidFill>
                <a:latin typeface="Aptos"/>
              </a:defRPr>
            </a:pPr>
            <a:r>
              <a:t>Cut property</a:t>
            </a:r>
          </a:p>
          <a:p>
            <a:pPr>
              <a:spcAft>
                <a:spcPts val="8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For any cut that separates the graph into two groups, a minimum-weight edge crossing that cut is safe to include in some MST.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8463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2000" b="1">
                <a:solidFill>
                  <a:srgbClr val="FFC44A"/>
                </a:solidFill>
                <a:latin typeface="Aptos"/>
              </a:defRPr>
            </a:pPr>
            <a:r>
              <a:t>Kruskal vs Prim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4754880" cy="155448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700" b="1">
                <a:solidFill>
                  <a:srgbClr val="3CD3E8"/>
                </a:solidFill>
                <a:latin typeface="Aptos"/>
              </a:defRPr>
            </a:pPr>
            <a:r>
              <a:t>Kruskal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Chooses the next lightest edge anywhere in the graph; merges components.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657600"/>
            <a:ext cx="4754880" cy="155448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FFC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700" b="1">
                <a:solidFill>
                  <a:srgbClr val="FFC44A"/>
                </a:solidFill>
                <a:latin typeface="Aptos"/>
              </a:defRPr>
            </a:pPr>
            <a:r>
              <a:t>Prim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Grows one tree from a starting vertex; chooses the lightest edge leaving that tree.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400" b="0">
                <a:solidFill>
                  <a:srgbClr val="B4C4DC"/>
                </a:solidFill>
                <a:latin typeface="Aptos"/>
              </a:defRPr>
            </a:pPr>
            <a:r>
              <a:t>Kruskal is especially natural when edges are given explicitly or the graph is sparse.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Common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200" b="1">
                <a:solidFill>
                  <a:srgbClr val="3CD3E8"/>
                </a:solidFill>
                <a:latin typeface="Aptos"/>
              </a:defRPr>
            </a:pPr>
            <a:r>
              <a:t>These checks help in exams, coding rounds, and implementations.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0292"/>
          </a:xfrm>
          <a:prstGeom prst="rect">
            <a:avLst/>
          </a:prstGeom>
          <a:solidFill>
            <a:srgbClr val="3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r">
              <a:defRPr sz="1000" b="0">
                <a:solidFill>
                  <a:srgbClr val="B4C4D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658368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11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F6474"/>
                </a:solidFill>
                <a:latin typeface="Aptos"/>
              </a:defRPr>
            </a:pPr>
            <a:r>
              <a:t>Taking the cheapest edge blindly</a:t>
            </a:r>
          </a:p>
          <a:p>
            <a:pPr>
              <a:spcAft>
                <a:spcPts val="8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Always check whether it creates a cycle.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50008"/>
            <a:ext cx="10424160" cy="658368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11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F6474"/>
                </a:solidFill>
                <a:latin typeface="Aptos"/>
              </a:defRPr>
            </a:pPr>
            <a:r>
              <a:t>Stopping too late</a:t>
            </a:r>
          </a:p>
          <a:p>
            <a:pPr>
              <a:spcAft>
                <a:spcPts val="8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Stop when V − 1 edges have been accepted.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91256"/>
            <a:ext cx="10424160" cy="658368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11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F6474"/>
                </a:solidFill>
                <a:latin typeface="Aptos"/>
              </a:defRPr>
            </a:pPr>
            <a:r>
              <a:t>Confusing MST with shortest path</a:t>
            </a:r>
          </a:p>
          <a:p>
            <a:pPr>
              <a:spcAft>
                <a:spcPts val="8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MST minimizes total network weight, not each source-to-node 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032504"/>
            <a:ext cx="10424160" cy="658368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11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F6474"/>
                </a:solidFill>
                <a:latin typeface="Aptos"/>
              </a:defRPr>
            </a:pPr>
            <a:r>
              <a:t>Ignoring disconnected graphs</a:t>
            </a:r>
          </a:p>
          <a:p>
            <a:pPr>
              <a:spcAft>
                <a:spcPts val="8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 disconnected graph has no single spanning tree.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873752"/>
            <a:ext cx="10424160" cy="658368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112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F6474"/>
                </a:solidFill>
                <a:latin typeface="Aptos"/>
              </a:defRPr>
            </a:pPr>
            <a:r>
              <a:t>Using incorrect edge order</a:t>
            </a:r>
          </a:p>
          <a:p>
            <a:pPr>
              <a:spcAft>
                <a:spcPts val="8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Sort by nondecreasing weight; equal weights may be processed in either order.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515600" cy="4572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400" b="1">
                <a:solidFill>
                  <a:srgbClr val="3CD3E8"/>
                </a:solidFill>
                <a:latin typeface="Aptos"/>
              </a:defRPr>
            </a:pPr>
            <a:r>
              <a:t>THE 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7315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Kruskal = Sort + Cycle Check + Union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514600" cy="141732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FC44A"/>
                </a:solidFill>
                <a:latin typeface="Aptos"/>
              </a:defRPr>
            </a:pPr>
            <a:r>
              <a:t>SORT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Edges from lightest to heaviest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743200"/>
            <a:ext cx="2514600" cy="141732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3CD3E8"/>
                </a:solidFill>
                <a:latin typeface="Aptos"/>
              </a:defRPr>
            </a:pPr>
            <a:r>
              <a:t>CHECK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Reject an edge if its endpoints are already connected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743200"/>
            <a:ext cx="2514600" cy="141732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3CD3E8"/>
                </a:solidFill>
                <a:latin typeface="Aptos"/>
              </a:defRPr>
            </a:pPr>
            <a:r>
              <a:t>UNION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Accept safe edges and merge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743200"/>
            <a:ext cx="2514600" cy="1417320"/>
          </a:xfrm>
          <a:prstGeom prst="roundRect">
            <a:avLst/>
          </a:prstGeom>
          <a:solidFill>
            <a:srgbClr val="172B4E"/>
          </a:solidFill>
          <a:ln w="15240">
            <a:solidFill>
              <a:srgbClr val="24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3CD3E8"/>
                </a:solidFill>
                <a:latin typeface="Aptos"/>
              </a:defRPr>
            </a:pPr>
            <a:r>
              <a:t>STOP</a:t>
            </a:r>
          </a:p>
          <a:p>
            <a:pPr>
              <a:spcAft>
                <a:spcPts val="8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Finish after V − 1 accepted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9966960" cy="6400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900" b="0">
                <a:solidFill>
                  <a:srgbClr val="B4C4DC"/>
                </a:solidFill>
                <a:latin typeface="Aptos"/>
              </a:defRPr>
            </a:pPr>
            <a:r>
              <a:t>Remember: the objective is to connect every vertex at the minimum possible total cost—without cycles.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72200"/>
            <a:ext cx="914400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defRPr sz="1000" b="0">
                <a:solidFill>
                  <a:srgbClr val="B4C4DC"/>
                </a:solidFill>
                <a:latin typeface="Aptos"/>
              </a:defRPr>
            </a:pPr>
            <a:r>
              <a:t>Source basis: uploaded Kruskal’s Algorithm video; example graph in this deck is separately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